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Public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ublicSans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PublicSans-italic.fntdata"/><Relationship Id="rId10" Type="http://schemas.openxmlformats.org/officeDocument/2006/relationships/slide" Target="slides/slide5.xml"/><Relationship Id="rId32" Type="http://schemas.openxmlformats.org/officeDocument/2006/relationships/font" Target="fonts/Public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ublic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5d1286b3e_0_1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5d1286b3e_0_1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0358cad95_0_2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0358cad95_0_2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53212972_1_1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53212972_1_1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358cad95_0_2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0358cad95_0_2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053212972_1_1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053212972_1_1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5d1286b3e_0_2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5d1286b3e_0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053212972_1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053212972_1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053212972_1_1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053212972_1_1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53212972_1_17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053212972_1_17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053212972_1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053212972_1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f2f1321db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f2f1321db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f2f1321db_0_1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f2f1321db_0_1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05b664c0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05b664c0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05b664c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05b664c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03b2f404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b03b2f404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f2f1321db_0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f2f1321db_0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03b2f404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b03b2f404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03b2f404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03b2f404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053212972_1_1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b053212972_1_1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0358cad95_0_2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b0358cad95_0_2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05b664c00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b05b664c00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1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Adamnecktor/ITAPP-Project-1/tree/main" TargetMode="External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nea.gov.sg/media/readers-letters/index/nea-will-continue-to-work-with-stakeholders-to-put-out-consistent-recycling-messages" TargetMode="External"/><Relationship Id="rId4" Type="http://schemas.openxmlformats.org/officeDocument/2006/relationships/hyperlink" Target="https://cnalifestyle.channelnewsasia.com/singapore/waste-generated-2021-recycling-nea-blue-bin-358581" TargetMode="External"/><Relationship Id="rId5" Type="http://schemas.openxmlformats.org/officeDocument/2006/relationships/hyperlink" Target="https://rawicko.com/2023/07/07/recycling-in-singapore-what-you-need-to-kno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881775" y="2097450"/>
            <a:ext cx="2856600" cy="94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/>
              <a:t>T</a:t>
            </a:r>
            <a:r>
              <a:rPr lang="en" sz="6800"/>
              <a:t>eam 5</a:t>
            </a:r>
            <a:endParaRPr sz="68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Team 5</a:t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IT Application Project </a:t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Company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Team 5</a:t>
            </a:r>
            <a:endParaRPr/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2590625" y="1767775"/>
            <a:ext cx="30621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National Environmental Agency (NEA)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 title="NEA.jpeg"/>
          <p:cNvPicPr preferRelativeResize="0"/>
          <p:nvPr/>
        </p:nvPicPr>
        <p:blipFill rotWithShape="1">
          <a:blip r:embed="rId3">
            <a:alphaModFix/>
          </a:blip>
          <a:srcRect b="29389" l="0" r="0" t="29541"/>
          <a:stretch/>
        </p:blipFill>
        <p:spPr>
          <a:xfrm>
            <a:off x="1931275" y="2324650"/>
            <a:ext cx="4522549" cy="185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D7E6B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/>
              <a:t>Challenge</a:t>
            </a:r>
            <a:endParaRPr sz="6800"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Team 5</a:t>
            </a:r>
            <a:endParaRPr/>
          </a:p>
        </p:txBody>
      </p:sp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2058475" y="1503338"/>
            <a:ext cx="46083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National Environmental Agency has difficulties in recycling because of cross-contamination.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6" title="Recycle Wrong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6900" y="2191950"/>
            <a:ext cx="3411450" cy="227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/>
              <a:t>Background</a:t>
            </a:r>
            <a:endParaRPr sz="6800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Team 5</a:t>
            </a:r>
            <a:endParaRPr/>
          </a:p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1935900" y="1354325"/>
            <a:ext cx="49851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bout 40% of waste that goes into the recycling bins cannot be recycled, as they are either not recyclable or are contaminated by food or liquids.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7" title="Recycle Righ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7650" y="2046300"/>
            <a:ext cx="3464551" cy="24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/>
              <a:t>Solution</a:t>
            </a:r>
            <a:endParaRPr sz="6800"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Team 5</a:t>
            </a:r>
            <a:endParaRPr/>
          </a:p>
        </p:txBody>
      </p:sp>
      <p:sp>
        <p:nvSpPr>
          <p:cNvPr id="100" name="Google Shape;100;p18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1798850" y="1517075"/>
            <a:ext cx="49851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Educate Singaporeans on how to recycle right by making a Recycling sorter game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8" title="Recycle Righ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7650" y="2046300"/>
            <a:ext cx="3464551" cy="245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Menu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Faril</a:t>
            </a:r>
            <a:endParaRPr/>
          </a:p>
        </p:txBody>
      </p:sp>
      <p:sp>
        <p:nvSpPr>
          <p:cNvPr id="110" name="Google Shape;110;p19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582175" y="1446600"/>
            <a:ext cx="7859700" cy="25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start screen of the project.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users to enter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settings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Start Menu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Faril</a:t>
            </a:r>
            <a:endParaRPr/>
          </a:p>
        </p:txBody>
      </p:sp>
      <p:sp>
        <p:nvSpPr>
          <p:cNvPr id="119" name="Google Shape;119;p20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4410925" y="2234700"/>
            <a:ext cx="41757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play button → when clicked moves the user into the home page.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cog wheel → when clicked moves the user into the setting page.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22" name="Google Shape;122;p20" title="start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75" y="1508900"/>
            <a:ext cx="3811599" cy="285869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505925" y="1144800"/>
            <a:ext cx="226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Home page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Faril</a:t>
            </a:r>
            <a:endParaRPr/>
          </a:p>
        </p:txBody>
      </p:sp>
      <p:sp>
        <p:nvSpPr>
          <p:cNvPr id="130" name="Google Shape;130;p21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4381075" y="1426150"/>
            <a:ext cx="4175700" cy="3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back button → when clicked moves the user back to the previous page.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cog wheel → when clicked moves the user into the setting page.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elearning button → when clicked moves the user into the elearning page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game button → when clicked moves the user into the start page of the Game.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Quiz button → when clicked moves the user into the start page of the Quiz.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1" title="Screenshot 2025-12-14 0852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473" y="2016350"/>
            <a:ext cx="3024474" cy="227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Screenshot 2025-12-14 0900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625" y="1531975"/>
            <a:ext cx="3757150" cy="285689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482325" y="1161925"/>
            <a:ext cx="226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Settings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Faril</a:t>
            </a:r>
            <a:endParaRPr/>
          </a:p>
        </p:txBody>
      </p:sp>
      <p:sp>
        <p:nvSpPr>
          <p:cNvPr id="142" name="Google Shape;142;p22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43" name="Google Shape;143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4381075" y="1820150"/>
            <a:ext cx="4175700" cy="23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back button → when clicked moves the user back to the previous page.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sound slider → when moved changes how loud sound is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brightness slider →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moved changes how bright it is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2" title="Screenshot 2025-12-14 0852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75" y="1531975"/>
            <a:ext cx="3799640" cy="285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 title="Screenshot 2025-12-14 0900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12" y="1531975"/>
            <a:ext cx="3791769" cy="285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2" title="Screenshot 2025-12-14 1101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925" y="1531975"/>
            <a:ext cx="3769851" cy="28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482325" y="1161925"/>
            <a:ext cx="226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E-Learning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Faril</a:t>
            </a:r>
            <a:endParaRPr/>
          </a:p>
        </p:txBody>
      </p:sp>
      <p:sp>
        <p:nvSpPr>
          <p:cNvPr id="155" name="Google Shape;155;p2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3"/>
          <p:cNvSpPr txBox="1"/>
          <p:nvPr/>
        </p:nvSpPr>
        <p:spPr>
          <a:xfrm>
            <a:off x="582175" y="1446600"/>
            <a:ext cx="7859700" cy="25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-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Informs users on proper recycling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-"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Prepares for the quiz and game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E-Learning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64" name="Google Shape;16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24"/>
          <p:cNvSpPr txBox="1"/>
          <p:nvPr/>
        </p:nvSpPr>
        <p:spPr>
          <a:xfrm>
            <a:off x="642150" y="1772075"/>
            <a:ext cx="78597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741900" y="1725450"/>
            <a:ext cx="7447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Insert wireframe here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7" name="Google Shape;167;p24" title="2025_12_14_00t_Klek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00" y="2212284"/>
            <a:ext cx="3486275" cy="20153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4"/>
          <p:cNvGrpSpPr/>
          <p:nvPr/>
        </p:nvGrpSpPr>
        <p:grpSpPr>
          <a:xfrm>
            <a:off x="527725" y="3857734"/>
            <a:ext cx="8043659" cy="461700"/>
            <a:chOff x="984925" y="4162534"/>
            <a:chExt cx="8043659" cy="461700"/>
          </a:xfrm>
        </p:grpSpPr>
        <p:sp>
          <p:nvSpPr>
            <p:cNvPr id="169" name="Google Shape;169;p24"/>
            <p:cNvSpPr/>
            <p:nvPr/>
          </p:nvSpPr>
          <p:spPr>
            <a:xfrm>
              <a:off x="984925" y="4213300"/>
              <a:ext cx="1121700" cy="355500"/>
            </a:xfrm>
            <a:prstGeom prst="rect">
              <a:avLst/>
            </a:prstGeom>
            <a:solidFill>
              <a:srgbClr val="FF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4"/>
            <p:cNvSpPr txBox="1"/>
            <p:nvPr/>
          </p:nvSpPr>
          <p:spPr>
            <a:xfrm>
              <a:off x="1149084" y="4162534"/>
              <a:ext cx="7879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2"/>
                  </a:solidFill>
                </a:rPr>
                <a:t>Back</a:t>
              </a:r>
              <a:endParaRPr sz="1800">
                <a:solidFill>
                  <a:schemeClr val="lt2"/>
                </a:solidFill>
              </a:endParaRPr>
            </a:p>
          </p:txBody>
        </p:sp>
      </p:grpSp>
      <p:pic>
        <p:nvPicPr>
          <p:cNvPr id="171" name="Google Shape;171;p24" title="Screenshot 2025-12-14 1350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00" y="1535025"/>
            <a:ext cx="3937795" cy="296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/>
        </p:nvSpPr>
        <p:spPr>
          <a:xfrm>
            <a:off x="4693600" y="1815000"/>
            <a:ext cx="3991500" cy="30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back button → when clicked moves the user back to the previous page.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cog wheel → when clicked moves the user into the setting page.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3 buttons, which when pressed brings the to what they are.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Game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5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Isaac / Caleb Roberts</a:t>
            </a:r>
            <a:endParaRPr/>
          </a:p>
        </p:txBody>
      </p:sp>
      <p:sp>
        <p:nvSpPr>
          <p:cNvPr id="179" name="Google Shape;179;p25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642150" y="1772075"/>
            <a:ext cx="78597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help make information easier to remember by presenting it in a game format.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high score mechanic will be implemented to encourage users to try and beat the current high score holder.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allows for players to easily demonstrate their understanding of the information provided in the e-learning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Game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Isaac / Caleb Roberts</a:t>
            </a:r>
            <a:endParaRPr/>
          </a:p>
        </p:txBody>
      </p:sp>
      <p:sp>
        <p:nvSpPr>
          <p:cNvPr id="188" name="Google Shape;188;p26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89" name="Google Shape;18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4366600" y="1262425"/>
            <a:ext cx="4276200" cy="3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Brief the player on the game mechanics and start the game.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-"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“Start Game” button is clicked, it starts the game.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00" y="1418250"/>
            <a:ext cx="3815535" cy="28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398075" y="320850"/>
            <a:ext cx="74472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Game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Isaac / Caleb Roberts</a:t>
            </a:r>
            <a:endParaRPr/>
          </a:p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199" name="Google Shape;199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7"/>
          <p:cNvSpPr txBox="1"/>
          <p:nvPr/>
        </p:nvSpPr>
        <p:spPr>
          <a:xfrm>
            <a:off x="4227775" y="1539663"/>
            <a:ext cx="44832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 Mechanics: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waste items will drop from the edge of the play area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player is tasked with sorting the items into each of the 5 bins correctly (paper, plastic, metals, e-waste, general waste)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Font typeface="Calibri"/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contaminant (e.g., coffee, tea) is sorted into the recyclable bins, the score for that specific bin is reset to 0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player has 3 lives, if an item is not sorted in time, the player will lose a life. Lose all 3 lives and the game ends.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3">
            <a:alphaModFix/>
          </a:blip>
          <a:srcRect b="0" l="773" r="0" t="0"/>
          <a:stretch/>
        </p:blipFill>
        <p:spPr>
          <a:xfrm>
            <a:off x="398075" y="1516525"/>
            <a:ext cx="3793401" cy="2846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 txBox="1"/>
          <p:nvPr/>
        </p:nvSpPr>
        <p:spPr>
          <a:xfrm>
            <a:off x="533725" y="1122925"/>
            <a:ext cx="226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98075" y="365350"/>
            <a:ext cx="31719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100">
                <a:latin typeface="Calibri"/>
                <a:ea typeface="Calibri"/>
                <a:cs typeface="Calibri"/>
                <a:sym typeface="Calibri"/>
              </a:rPr>
              <a:t>Quiz</a:t>
            </a:r>
            <a:endParaRPr sz="6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Archer</a:t>
            </a:r>
            <a:endParaRPr sz="4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8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en" sz="1187"/>
              <a:t>IT Application Project</a:t>
            </a:r>
            <a:endParaRPr sz="1187"/>
          </a:p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50"/>
          </a:p>
        </p:txBody>
      </p:sp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8"/>
          <p:cNvSpPr txBox="1"/>
          <p:nvPr/>
        </p:nvSpPr>
        <p:spPr>
          <a:xfrm>
            <a:off x="585975" y="1475775"/>
            <a:ext cx="7606800" cy="29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test user knowledge on recycling after they completed the game and e-learning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multiple choice quiz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help test user memory on the right way of recycling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score to help users see whether they know their stuff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Archer</a:t>
            </a:r>
            <a:endParaRPr/>
          </a:p>
        </p:txBody>
      </p:sp>
      <p:sp>
        <p:nvSpPr>
          <p:cNvPr id="217" name="Google Shape;217;p29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218" name="Google Shape;21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29"/>
          <p:cNvSpPr txBox="1"/>
          <p:nvPr/>
        </p:nvSpPr>
        <p:spPr>
          <a:xfrm>
            <a:off x="2951550" y="1790450"/>
            <a:ext cx="15192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5620950" y="1334700"/>
            <a:ext cx="2311200" cy="14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21" name="Google Shape;221;p29"/>
          <p:cNvSpPr txBox="1"/>
          <p:nvPr/>
        </p:nvSpPr>
        <p:spPr>
          <a:xfrm>
            <a:off x="1519175" y="1768750"/>
            <a:ext cx="10527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4698575" y="1506675"/>
            <a:ext cx="3385500" cy="2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Purpose: To start the Quiz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Things Included: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Button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 Button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start Button is clicked, move user to questions page.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482325" y="1161925"/>
            <a:ext cx="226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585950" y="347225"/>
            <a:ext cx="47529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 page for quiz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950" y="1617450"/>
            <a:ext cx="3705591" cy="279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98075" y="365350"/>
            <a:ext cx="74472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Questions page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 txBox="1"/>
          <p:nvPr>
            <p:ph idx="2" type="body"/>
          </p:nvPr>
        </p:nvSpPr>
        <p:spPr>
          <a:xfrm>
            <a:off x="5371350" y="1548075"/>
            <a:ext cx="2931000" cy="32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Purpose: To provide questions on recycling to test the knowledge of users.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Things included: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questions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Questions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buttons with answers(only 1 correct answer per question)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Settings Button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button is clicked move on to next question.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 and no. of questions will change accordingly.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61" y="1548047"/>
            <a:ext cx="4338014" cy="32766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0"/>
          <p:cNvSpPr txBox="1"/>
          <p:nvPr/>
        </p:nvSpPr>
        <p:spPr>
          <a:xfrm>
            <a:off x="683625" y="1063425"/>
            <a:ext cx="226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35" name="Google Shape;235;p30" title="Questions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950" y="1548075"/>
            <a:ext cx="4368858" cy="327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98075" y="365350"/>
            <a:ext cx="3909900" cy="5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End Screen for Quiz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 txBox="1"/>
          <p:nvPr>
            <p:ph idx="1" type="body"/>
          </p:nvPr>
        </p:nvSpPr>
        <p:spPr>
          <a:xfrm>
            <a:off x="582550" y="933250"/>
            <a:ext cx="24837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890">
                <a:solidFill>
                  <a:schemeClr val="dk1"/>
                </a:solidFill>
              </a:rPr>
              <a:t>Pass(outcome):</a:t>
            </a:r>
            <a:endParaRPr sz="1890">
              <a:solidFill>
                <a:schemeClr val="dk1"/>
              </a:solidFill>
            </a:endParaRPr>
          </a:p>
        </p:txBody>
      </p:sp>
      <p:sp>
        <p:nvSpPr>
          <p:cNvPr id="242" name="Google Shape;242;p31"/>
          <p:cNvSpPr txBox="1"/>
          <p:nvPr>
            <p:ph idx="2" type="body"/>
          </p:nvPr>
        </p:nvSpPr>
        <p:spPr>
          <a:xfrm>
            <a:off x="4872225" y="933250"/>
            <a:ext cx="2483700" cy="4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" sz="189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Fail(outcome):</a:t>
            </a:r>
            <a:endParaRPr sz="189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31"/>
          <p:cNvSpPr txBox="1"/>
          <p:nvPr/>
        </p:nvSpPr>
        <p:spPr>
          <a:xfrm>
            <a:off x="1020025" y="1638550"/>
            <a:ext cx="2647800" cy="17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4872225" y="1747050"/>
            <a:ext cx="17580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1125" y="1747050"/>
            <a:ext cx="2547051" cy="18908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98" y="1747050"/>
            <a:ext cx="2547050" cy="190286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1"/>
          <p:cNvSpPr txBox="1"/>
          <p:nvPr/>
        </p:nvSpPr>
        <p:spPr>
          <a:xfrm>
            <a:off x="3066250" y="1747050"/>
            <a:ext cx="1730100" cy="25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indicate score and if user passed the Quiz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Settings Button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again button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Brings user back to the Quiz starting page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7356975" y="1717950"/>
            <a:ext cx="1584600" cy="25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Purpose: indicate score and if user Failed the Quiz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Settings button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again button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Brings user back to the Quiz starting page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607675" y="1378100"/>
            <a:ext cx="2767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1" name="Google Shape;251;p31"/>
          <p:cNvSpPr txBox="1"/>
          <p:nvPr/>
        </p:nvSpPr>
        <p:spPr>
          <a:xfrm>
            <a:off x="4796250" y="1378100"/>
            <a:ext cx="2268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Wireframe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98075" y="365350"/>
            <a:ext cx="74472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Github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2"/>
          <p:cNvSpPr txBox="1"/>
          <p:nvPr>
            <p:ph idx="2" type="body"/>
          </p:nvPr>
        </p:nvSpPr>
        <p:spPr>
          <a:xfrm>
            <a:off x="1605800" y="4494550"/>
            <a:ext cx="7601700" cy="10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https://github.com/Adamnecktor/ITAPP-Project-1/tree/main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58" name="Google Shape;25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32" title="Screenshot 2025-12-14 1215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850" y="1025451"/>
            <a:ext cx="6952325" cy="309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 txBox="1"/>
          <p:nvPr>
            <p:ph type="title"/>
          </p:nvPr>
        </p:nvSpPr>
        <p:spPr>
          <a:xfrm>
            <a:off x="2282850" y="2078550"/>
            <a:ext cx="45783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6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Team 5</a:t>
            </a:r>
            <a:endParaRPr/>
          </a:p>
        </p:txBody>
      </p:sp>
      <p:sp>
        <p:nvSpPr>
          <p:cNvPr id="266" name="Google Shape;266;p3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267" name="Google Shape;267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3"/>
          <p:cNvSpPr txBox="1"/>
          <p:nvPr/>
        </p:nvSpPr>
        <p:spPr>
          <a:xfrm>
            <a:off x="479400" y="2735700"/>
            <a:ext cx="78597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444525" y="399750"/>
            <a:ext cx="5883900" cy="9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6800"/>
              <a:t>REFERENCES</a:t>
            </a:r>
            <a:endParaRPr sz="6800"/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Team 5</a:t>
            </a:r>
            <a:endParaRPr/>
          </a:p>
        </p:txBody>
      </p:sp>
      <p:sp>
        <p:nvSpPr>
          <p:cNvPr id="275" name="Google Shape;275;p34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rPr lang="en" sz="1150"/>
              <a:t>IT Application Project</a:t>
            </a:r>
            <a:endParaRPr sz="1150"/>
          </a:p>
        </p:txBody>
      </p:sp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34"/>
          <p:cNvSpPr txBox="1"/>
          <p:nvPr/>
        </p:nvSpPr>
        <p:spPr>
          <a:xfrm>
            <a:off x="500825" y="1318125"/>
            <a:ext cx="7859700" cy="26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https://www.nea.gov.sg/media/readers-letters/index/nea-will-continue-to-work-with-stakeholders-to-put-out-consistent-recycling-messages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Public Sans"/>
                <a:ea typeface="Public Sans"/>
                <a:cs typeface="Public Sans"/>
                <a:sym typeface="Public Sans"/>
                <a:hlinkClick r:id="rId4"/>
              </a:rPr>
              <a:t>https://cnalifestyle.channelnewsasia.com/singapore/waste-generated-2021-recycling-nea-blue-bin-358581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latin typeface="Public Sans"/>
                <a:ea typeface="Public Sans"/>
                <a:cs typeface="Public Sans"/>
                <a:sym typeface="Public Sans"/>
                <a:hlinkClick r:id="rId5"/>
              </a:rPr>
              <a:t>https://rawicko.com/2023/07/07/recycling-in-singapore-what-you-need-to-know/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